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513" r:id="rId2"/>
    <p:sldId id="514" r:id="rId3"/>
    <p:sldId id="618" r:id="rId4"/>
    <p:sldId id="622" r:id="rId5"/>
    <p:sldId id="619" r:id="rId6"/>
    <p:sldId id="623" r:id="rId7"/>
    <p:sldId id="624" r:id="rId8"/>
    <p:sldId id="625" r:id="rId9"/>
    <p:sldId id="626" r:id="rId10"/>
    <p:sldId id="627" r:id="rId11"/>
    <p:sldId id="630" r:id="rId12"/>
    <p:sldId id="628" r:id="rId13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56C"/>
    <a:srgbClr val="8BC500"/>
    <a:srgbClr val="0E7DCE"/>
    <a:srgbClr val="48B5F6"/>
    <a:srgbClr val="232227"/>
    <a:srgbClr val="ECD5AC"/>
    <a:srgbClr val="F26D40"/>
    <a:srgbClr val="AF2B2E"/>
    <a:srgbClr val="455065"/>
    <a:srgbClr val="00A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7" autoAdjust="0"/>
    <p:restoredTop sz="93091" autoAdjust="0"/>
  </p:normalViewPr>
  <p:slideViewPr>
    <p:cSldViewPr snapToGrid="0" snapToObjects="1">
      <p:cViewPr varScale="1">
        <p:scale>
          <a:sx n="129" d="100"/>
          <a:sy n="129" d="100"/>
        </p:scale>
        <p:origin x="216" y="272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arlos Castro Bustamante" userId="6a1eae72-c265-4fa1-8efa-3defc8ba2bc8" providerId="ADAL" clId="{D0D3E5A9-2BD1-497F-A333-199AF21F03B7}"/>
    <pc:docChg chg="custSel modMainMaster">
      <pc:chgData name="Carlos Castro Bustamante" userId="6a1eae72-c265-4fa1-8efa-3defc8ba2bc8" providerId="ADAL" clId="{D0D3E5A9-2BD1-497F-A333-199AF21F03B7}" dt="2023-10-05T22:01:23.810" v="0" actId="478"/>
      <pc:docMkLst>
        <pc:docMk/>
      </pc:docMkLst>
      <pc:sldMasterChg chg="modSldLayout">
        <pc:chgData name="Carlos Castro Bustamante" userId="6a1eae72-c265-4fa1-8efa-3defc8ba2bc8" providerId="ADAL" clId="{D0D3E5A9-2BD1-497F-A333-199AF21F03B7}" dt="2023-10-05T22:01:23.810" v="0" actId="478"/>
        <pc:sldMasterMkLst>
          <pc:docMk/>
          <pc:sldMasterMk cId="1093945410" sldId="2147483660"/>
        </pc:sldMasterMkLst>
        <pc:sldLayoutChg chg="delSp mod">
          <pc:chgData name="Carlos Castro Bustamante" userId="6a1eae72-c265-4fa1-8efa-3defc8ba2bc8" providerId="ADAL" clId="{D0D3E5A9-2BD1-497F-A333-199AF21F03B7}" dt="2023-10-05T22:01:23.810" v="0" actId="478"/>
          <pc:sldLayoutMkLst>
            <pc:docMk/>
            <pc:sldMasterMk cId="1093945410" sldId="2147483660"/>
            <pc:sldLayoutMk cId="2738684286" sldId="2147483661"/>
          </pc:sldLayoutMkLst>
          <pc:spChg chg="del">
            <ac:chgData name="Carlos Castro Bustamante" userId="6a1eae72-c265-4fa1-8efa-3defc8ba2bc8" providerId="ADAL" clId="{D0D3E5A9-2BD1-497F-A333-199AF21F03B7}" dt="2023-10-05T22:01:23.810" v="0" actId="478"/>
            <ac:spMkLst>
              <pc:docMk/>
              <pc:sldMasterMk cId="1093945410" sldId="2147483660"/>
              <pc:sldLayoutMk cId="2738684286" sldId="2147483661"/>
              <ac:spMk id="9" creationId="{4BFCA498-348C-4A5E-9EF5-B337E69E3111}"/>
            </ac:spMkLst>
          </pc:spChg>
        </pc:sldLayoutChg>
      </pc:sldMaster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0668503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25/11/25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25/11/25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25/11/25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25/11/25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25/11/25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25/11/25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25/11/25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29" y="1918344"/>
            <a:ext cx="11759804" cy="1668070"/>
          </a:xfrm>
        </p:spPr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Programación Front END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en ejecución Informática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74900" y="5638296"/>
            <a:ext cx="9684545" cy="1988714"/>
          </a:xfrm>
        </p:spPr>
        <p:txBody>
          <a:bodyPr/>
          <a:lstStyle/>
          <a:p>
            <a:r>
              <a:rPr lang="es-CL" dirty="0"/>
              <a:t>Pablo Vilches Valenzuela</a:t>
            </a:r>
          </a:p>
          <a:p>
            <a:r>
              <a:rPr lang="es-CL" dirty="0"/>
              <a:t>Mg. En gestión Tecnológica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E0E69C-BCD3-8445-031C-B0725A9750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5924324" y="3743156"/>
            <a:ext cx="1785695" cy="16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0" y="0"/>
            <a:ext cx="6917531" cy="7781925"/>
          </a:xfrm>
          <a:prstGeom prst="rect">
            <a:avLst/>
          </a:prstGeom>
          <a:solidFill>
            <a:srgbClr val="314486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28C13F34-F968-7748-AAC6-774031BB773F}"/>
              </a:ext>
            </a:extLst>
          </p:cNvPr>
          <p:cNvSpPr txBox="1">
            <a:spLocks/>
          </p:cNvSpPr>
          <p:nvPr/>
        </p:nvSpPr>
        <p:spPr>
          <a:xfrm>
            <a:off x="765312" y="1272001"/>
            <a:ext cx="5705061" cy="5237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solidFill>
                  <a:schemeClr val="bg1"/>
                </a:solidFill>
              </a:rPr>
              <a:t>Contenido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Antes de comenzar…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Hoy veremos:</a:t>
            </a:r>
          </a:p>
          <a:p>
            <a:pPr marL="0" indent="0">
              <a:buNone/>
            </a:pPr>
            <a:endParaRPr lang="es-ES" sz="2400" b="1" i="1" dirty="0">
              <a:solidFill>
                <a:schemeClr val="bg1"/>
              </a:solidFill>
            </a:endParaRPr>
          </a:p>
          <a:p>
            <a:r>
              <a:rPr lang="es-ES" sz="2400" b="1" i="1" dirty="0">
                <a:solidFill>
                  <a:schemeClr val="bg1"/>
                </a:solidFill>
              </a:rPr>
              <a:t>Directivas</a:t>
            </a:r>
          </a:p>
          <a:p>
            <a:r>
              <a:rPr lang="es-ES" sz="2400" b="1" i="1" dirty="0" err="1">
                <a:solidFill>
                  <a:schemeClr val="bg1"/>
                </a:solidFill>
              </a:rPr>
              <a:t>shared</a:t>
            </a:r>
            <a:endParaRPr lang="es-ES" sz="2400" b="1" i="1" dirty="0">
              <a:solidFill>
                <a:schemeClr val="bg1"/>
              </a:solidFill>
            </a:endParaRPr>
          </a:p>
          <a:p>
            <a:endParaRPr lang="es-ES" sz="24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¿Qué aprendimos hoy?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Desafío final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Referencias documentales</a:t>
            </a:r>
            <a:endParaRPr lang="es-ES" i="1" dirty="0"/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CD1DFD-A1F5-8B4D-0457-0DD2A6B7A4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10734675" y="4466484"/>
            <a:ext cx="2615663" cy="24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1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3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441E54-10B1-DCA6-CD70-75015127FA95}"/>
              </a:ext>
            </a:extLst>
          </p:cNvPr>
          <p:cNvSpPr/>
          <p:nvPr/>
        </p:nvSpPr>
        <p:spPr>
          <a:xfrm>
            <a:off x="0" y="4737038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5188EC79-7EBB-BCAF-D442-0C3FA5EBB3A6}"/>
              </a:ext>
            </a:extLst>
          </p:cNvPr>
          <p:cNvSpPr txBox="1">
            <a:spLocks/>
          </p:cNvSpPr>
          <p:nvPr/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r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47EDA9-C55A-8145-A85C-80E4429229C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480092-48F0-F44B-C03E-4201615E8874}"/>
              </a:ext>
            </a:extLst>
          </p:cNvPr>
          <p:cNvSpPr/>
          <p:nvPr/>
        </p:nvSpPr>
        <p:spPr>
          <a:xfrm>
            <a:off x="213358" y="5650327"/>
            <a:ext cx="1261822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Son </a:t>
            </a:r>
            <a:r>
              <a:rPr lang="es-ES" sz="2400" b="1" i="0" u="none" strike="noStrike" dirty="0">
                <a:solidFill>
                  <a:schemeClr val="bg1"/>
                </a:solidFill>
                <a:effectLst/>
              </a:rPr>
              <a:t>paquetes externos</a:t>
            </a:r>
            <a:r>
              <a:rPr lang="es-E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creados por la comunidad o empresas, no forman parte del núcleo de Angular.</a:t>
            </a:r>
            <a:br>
              <a:rPr lang="es-ES" sz="2800" dirty="0">
                <a:solidFill>
                  <a:schemeClr val="bg1"/>
                </a:solidFill>
              </a:rPr>
            </a:b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F6323DC-5BFF-36C1-6D64-5661BA59665A}"/>
              </a:ext>
            </a:extLst>
          </p:cNvPr>
          <p:cNvSpPr txBox="1"/>
          <p:nvPr/>
        </p:nvSpPr>
        <p:spPr>
          <a:xfrm>
            <a:off x="-259398" y="5023953"/>
            <a:ext cx="6967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" sz="2800" b="0" i="0" u="none" strike="noStrike" dirty="0" err="1">
                <a:solidFill>
                  <a:schemeClr val="bg1"/>
                </a:solidFill>
                <a:effectLst/>
                <a:latin typeface="-webkit-standard"/>
              </a:rPr>
              <a:t>Librerias</a:t>
            </a:r>
            <a:endParaRPr lang="es-CL" sz="3200" b="1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40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8EF537-C298-F6D8-6010-537C3141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6396"/>
            <a:ext cx="9635360" cy="4571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B92C03E-8FEA-9C53-B4FB-478EA193CD49}"/>
              </a:ext>
            </a:extLst>
          </p:cNvPr>
          <p:cNvSpPr txBox="1"/>
          <p:nvPr/>
        </p:nvSpPr>
        <p:spPr>
          <a:xfrm>
            <a:off x="810928" y="760518"/>
            <a:ext cx="691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un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Shared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en Angular y para qué sirve?</a:t>
            </a:r>
            <a:endParaRPr lang="es-ES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BBEC12-04F2-FB5C-9382-84E593E4D4B6}"/>
              </a:ext>
            </a:extLst>
          </p:cNvPr>
          <p:cNvSpPr txBox="1"/>
          <p:nvPr/>
        </p:nvSpPr>
        <p:spPr>
          <a:xfrm>
            <a:off x="460375" y="1557883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 Module / </a:t>
            </a:r>
            <a:r>
              <a:rPr lang="es-ES" b="0" i="1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 Folder: la lógica reutilizable de Angular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247634-7628-06BE-F48F-747B2336F7F7}"/>
              </a:ext>
            </a:extLst>
          </p:cNvPr>
          <p:cNvSpPr txBox="1"/>
          <p:nvPr/>
        </p:nvSpPr>
        <p:spPr>
          <a:xfrm>
            <a:off x="1003746" y="2195937"/>
            <a:ext cx="1172542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es un lugar donde guardamos 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código reutilizable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en toda la aplicación.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utiliza para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evitar duplicar lógica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entre componentes.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Normalmente contiene: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Directivas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Pipes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Servicios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Componentes pequeños que se repiten</a:t>
            </a:r>
          </a:p>
          <a:p>
            <a:pPr marL="457200" lvl="1"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que la app sea: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Más ordenada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Más mantenible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Más escalable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Regla pedagógica: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Si un componente se va a usar en más de un lugar, debe vivir en un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7484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5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931" y="1246871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8EF537-C298-F6D8-6010-537C3141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DFA0DAB-4736-F329-3E6D-56596998D63C}"/>
              </a:ext>
            </a:extLst>
          </p:cNvPr>
          <p:cNvSpPr txBox="1"/>
          <p:nvPr/>
        </p:nvSpPr>
        <p:spPr>
          <a:xfrm>
            <a:off x="460375" y="506115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una Directiva en Angular?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414D8F-E32F-D59B-54D7-2CCEB797FF06}"/>
              </a:ext>
            </a:extLst>
          </p:cNvPr>
          <p:cNvSpPr txBox="1"/>
          <p:nvPr/>
        </p:nvSpPr>
        <p:spPr>
          <a:xfrm>
            <a:off x="460375" y="1436386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Directivas: el poder de modificar el comportamiento del HTML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0FD32E-BB64-CF20-3CF7-2D2E247C4219}"/>
              </a:ext>
            </a:extLst>
          </p:cNvPr>
          <p:cNvSpPr txBox="1"/>
          <p:nvPr/>
        </p:nvSpPr>
        <p:spPr>
          <a:xfrm>
            <a:off x="824938" y="2066599"/>
            <a:ext cx="1180571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Directiva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es una clase que 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le agrega comportamiento extra al HTML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trae directivas por defecto como: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*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ngIf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*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ngFor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[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ngClass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Pero también podemos crear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directivas personalizadas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para extender el comportamiento del input, botón,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div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etc.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Ejemplos de usos: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Validaciones personalizadas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Formateo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rut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fecha, moneda…)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Cambiar estilos dinámicamente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Activar animaciones en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scroll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Regla pedagógica: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Una directiva agrega comportamiento sin crear un componente nuevo.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9A2BC4-C8EC-878E-9F04-526EC940B1A8}"/>
              </a:ext>
            </a:extLst>
          </p:cNvPr>
          <p:cNvSpPr txBox="1"/>
          <p:nvPr/>
        </p:nvSpPr>
        <p:spPr>
          <a:xfrm>
            <a:off x="968721" y="623810"/>
            <a:ext cx="691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Directivas como Validadores: ¿Por qué y para qué?</a:t>
            </a:r>
            <a:endParaRPr lang="es-ES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DB7053-76E0-D86A-3E68-9F9784AAA339}"/>
              </a:ext>
            </a:extLst>
          </p:cNvPr>
          <p:cNvSpPr txBox="1"/>
          <p:nvPr/>
        </p:nvSpPr>
        <p:spPr>
          <a:xfrm>
            <a:off x="651848" y="1690359"/>
            <a:ext cx="1095469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permite validar formularios de manera nativa, pero a veces necesitamos: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Reglas propias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ej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validar RUT chileno, patente, número contrato…)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Para eso se crean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directivas validadoras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registradas como NG_VALIDATORS.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Ventajas: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El componente queda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limpio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(solo muestra datos).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La validación queda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centralizada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y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reutilizable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Si mañana cambias la regla → cambias solo la directiva.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Regla pedagógica: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El componente no debería validar; validar es responsabilidad del validador.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6396"/>
            <a:ext cx="963536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40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7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9A2BC4-C8EC-878E-9F04-526EC940B1A8}"/>
              </a:ext>
            </a:extLst>
          </p:cNvPr>
          <p:cNvSpPr txBox="1"/>
          <p:nvPr/>
        </p:nvSpPr>
        <p:spPr>
          <a:xfrm>
            <a:off x="977774" y="508599"/>
            <a:ext cx="691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El Ciclo de Validación de Angular</a:t>
            </a:r>
            <a:endParaRPr lang="es-ES" sz="2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DB7053-76E0-D86A-3E68-9F9784AAA339}"/>
              </a:ext>
            </a:extLst>
          </p:cNvPr>
          <p:cNvSpPr txBox="1"/>
          <p:nvPr/>
        </p:nvSpPr>
        <p:spPr>
          <a:xfrm>
            <a:off x="761057" y="1029866"/>
            <a:ext cx="109546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detecta que el input tiene: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ngModel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name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=""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Una directiva validadora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crea un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FormControl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interno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Cada vez que el valor cambia (o al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blur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según configuración):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llama a: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764"/>
            <a:ext cx="9635360" cy="457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ED2A86E-CA15-D1F9-5130-66E8AB5A8B82}"/>
              </a:ext>
            </a:extLst>
          </p:cNvPr>
          <p:cNvSpPr txBox="1"/>
          <p:nvPr/>
        </p:nvSpPr>
        <p:spPr>
          <a:xfrm>
            <a:off x="3693813" y="3077057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validate</a:t>
            </a:r>
            <a:r>
              <a:rPr lang="es-ES" dirty="0"/>
              <a:t>(control)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1EAE19-D1C2-E8D2-9DA4-9C9BAFDE960A}"/>
              </a:ext>
            </a:extLst>
          </p:cNvPr>
          <p:cNvSpPr txBox="1"/>
          <p:nvPr/>
        </p:nvSpPr>
        <p:spPr>
          <a:xfrm>
            <a:off x="761859" y="3326424"/>
            <a:ext cx="691684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El validador retorna: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null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→ válido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{error: true} → inválido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actualiza: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control.valid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control.invalid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control.touched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control.errors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Estos estados permiten: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Activar CSS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Mostrar mensajes de error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Bloquear botones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Llevar lógica de negocio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B881C0-3BC7-2DB9-08BF-225DCC6BB683}"/>
              </a:ext>
            </a:extLst>
          </p:cNvPr>
          <p:cNvSpPr txBox="1"/>
          <p:nvPr/>
        </p:nvSpPr>
        <p:spPr>
          <a:xfrm>
            <a:off x="7007382" y="4721709"/>
            <a:ext cx="69168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Regla pedagógica:</a:t>
            </a:r>
            <a:br>
              <a:rPr lang="es-ES" dirty="0"/>
            </a:b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Angular no adivina nada: todo ocurre porque el validador devuelve un estado.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9962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8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9A2BC4-C8EC-878E-9F04-526EC940B1A8}"/>
              </a:ext>
            </a:extLst>
          </p:cNvPr>
          <p:cNvSpPr txBox="1"/>
          <p:nvPr/>
        </p:nvSpPr>
        <p:spPr>
          <a:xfrm>
            <a:off x="941560" y="345496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Por qué es tan importante separar responsabilidades</a:t>
            </a:r>
            <a:endParaRPr lang="es-E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764"/>
            <a:ext cx="9635360" cy="4571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BBE01D8-088E-82B3-5CF3-23B811EAF77B}"/>
              </a:ext>
            </a:extLst>
          </p:cNvPr>
          <p:cNvSpPr txBox="1"/>
          <p:nvPr/>
        </p:nvSpPr>
        <p:spPr>
          <a:xfrm>
            <a:off x="579422" y="1115922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Arquitectura limpia: </a:t>
            </a:r>
            <a:r>
              <a:rPr lang="es-ES" b="0" i="1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, Directivas y Componentes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B1DD51-18A9-A443-5D13-4F287FE2A9E8}"/>
              </a:ext>
            </a:extLst>
          </p:cNvPr>
          <p:cNvSpPr txBox="1"/>
          <p:nvPr/>
        </p:nvSpPr>
        <p:spPr>
          <a:xfrm>
            <a:off x="733330" y="1875622"/>
            <a:ext cx="1108144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componente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debe enfocarse en: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mostrar datos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recibir input del usuario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debe contener la lógica compleja y reutilizable.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Una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directiva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debe encargarse del comportamiento del HTML (validaciones, formatos, activaciones).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Ventajas pedagógicas para los estudiantes: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La aplicación queda más fácil de mantener.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entiende mejor el flujo de Angular.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Los errores son más fáciles de depurar.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Sin duplicación → menos bugs.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Conclusión:</a:t>
            </a:r>
            <a:br>
              <a:rPr lang="es-ES" b="0" i="0" u="none" strike="noStrike" dirty="0">
                <a:solidFill>
                  <a:srgbClr val="000000"/>
                </a:solidFill>
                <a:effectLst/>
              </a:rPr>
            </a:b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En Angular, separar responsabilidades te permite escalar la app sin caos.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468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441E54-10B1-DCA6-CD70-75015127FA95}"/>
              </a:ext>
            </a:extLst>
          </p:cNvPr>
          <p:cNvSpPr/>
          <p:nvPr/>
        </p:nvSpPr>
        <p:spPr>
          <a:xfrm>
            <a:off x="0" y="4737038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5188EC79-7EBB-BCAF-D442-0C3FA5EBB3A6}"/>
              </a:ext>
            </a:extLst>
          </p:cNvPr>
          <p:cNvSpPr txBox="1">
            <a:spLocks/>
          </p:cNvSpPr>
          <p:nvPr/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r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47EDA9-C55A-8145-A85C-80E4429229C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480092-48F0-F44B-C03E-4201615E8874}"/>
              </a:ext>
            </a:extLst>
          </p:cNvPr>
          <p:cNvSpPr/>
          <p:nvPr/>
        </p:nvSpPr>
        <p:spPr>
          <a:xfrm>
            <a:off x="213358" y="5650327"/>
            <a:ext cx="12618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0" i="1" u="none" strike="noStrike" dirty="0" err="1">
                <a:solidFill>
                  <a:schemeClr val="bg2"/>
                </a:solidFill>
                <a:effectLst/>
              </a:rPr>
              <a:t>Ionic</a:t>
            </a:r>
            <a:r>
              <a:rPr lang="es-ES" sz="2000" b="0" i="1" u="none" strike="noStrike" dirty="0">
                <a:solidFill>
                  <a:schemeClr val="bg2"/>
                </a:solidFill>
                <a:effectLst/>
              </a:rPr>
              <a:t>: Framework para crear apps móviles con tecnologías web</a:t>
            </a:r>
            <a:endParaRPr lang="es-MX" sz="2800" dirty="0">
              <a:solidFill>
                <a:schemeClr val="bg2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F6323DC-5BFF-36C1-6D64-5661BA59665A}"/>
              </a:ext>
            </a:extLst>
          </p:cNvPr>
          <p:cNvSpPr txBox="1"/>
          <p:nvPr/>
        </p:nvSpPr>
        <p:spPr>
          <a:xfrm>
            <a:off x="-259398" y="5023953"/>
            <a:ext cx="6967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" sz="2400" b="0" i="0" u="none" strike="noStrike" dirty="0">
                <a:solidFill>
                  <a:schemeClr val="bg2"/>
                </a:solidFill>
                <a:effectLst/>
                <a:latin typeface="-webkit-standard"/>
              </a:rPr>
              <a:t>¿Qué es </a:t>
            </a:r>
            <a:r>
              <a:rPr lang="es-ES" sz="2400" b="0" i="0" u="none" strike="noStrike" dirty="0" err="1">
                <a:solidFill>
                  <a:schemeClr val="bg2"/>
                </a:solidFill>
                <a:effectLst/>
                <a:latin typeface="-webkit-standard"/>
              </a:rPr>
              <a:t>Ionic</a:t>
            </a:r>
            <a:r>
              <a:rPr lang="es-ES" sz="2400" b="0" i="0" u="none" strike="noStrike" dirty="0">
                <a:solidFill>
                  <a:schemeClr val="bg2"/>
                </a:solidFill>
                <a:effectLst/>
                <a:latin typeface="-webkit-standard"/>
              </a:rPr>
              <a:t>?</a:t>
            </a:r>
            <a:endParaRPr lang="es-CL" sz="3200" b="1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9A9BAFB-7E8A-FC26-476C-1488A962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0" y="3890962"/>
            <a:ext cx="1729212" cy="5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63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10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9A2BC4-C8EC-878E-9F04-526EC940B1A8}"/>
              </a:ext>
            </a:extLst>
          </p:cNvPr>
          <p:cNvSpPr txBox="1"/>
          <p:nvPr/>
        </p:nvSpPr>
        <p:spPr>
          <a:xfrm>
            <a:off x="769545" y="391215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?</a:t>
            </a:r>
            <a:endParaRPr lang="es-E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764"/>
            <a:ext cx="9635360" cy="4571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BBE01D8-088E-82B3-5CF3-23B811EAF77B}"/>
              </a:ext>
            </a:extLst>
          </p:cNvPr>
          <p:cNvSpPr txBox="1"/>
          <p:nvPr/>
        </p:nvSpPr>
        <p:spPr>
          <a:xfrm>
            <a:off x="579422" y="1115922"/>
            <a:ext cx="69168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: Framework para crear apps móviles con tecnologías web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1DD733-74EE-DB7A-96D8-F82ADD3C3690}"/>
              </a:ext>
            </a:extLst>
          </p:cNvPr>
          <p:cNvSpPr txBox="1"/>
          <p:nvPr/>
        </p:nvSpPr>
        <p:spPr>
          <a:xfrm>
            <a:off x="1032096" y="2005514"/>
            <a:ext cx="1138925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es un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framework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de desarrollo móvil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que permite crear aplicaciones usando: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HTML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CSS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JavaScript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Angular /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React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/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Vue</a:t>
            </a:r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construir apps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Android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iOS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y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web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desde un mismo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basa en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componentes UI listos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optimizados para verse como apps nativas.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 ideal para: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estudiantes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proyectos rápidos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prototipos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apps empresariales con lógica web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8F8C147-E255-F49B-C811-0CFEAE278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801" y="4275161"/>
            <a:ext cx="3270502" cy="262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7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11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764"/>
            <a:ext cx="9635360" cy="4571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FFFF7AB-CE8E-15BC-3C84-45BDD65B2857}"/>
              </a:ext>
            </a:extLst>
          </p:cNvPr>
          <p:cNvSpPr txBox="1"/>
          <p:nvPr/>
        </p:nvSpPr>
        <p:spPr>
          <a:xfrm>
            <a:off x="805070" y="345496"/>
            <a:ext cx="6917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Cómo funciona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por dentro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EDC472-B9A3-6917-9913-0F4C5BB256FD}"/>
              </a:ext>
            </a:extLst>
          </p:cNvPr>
          <p:cNvSpPr txBox="1"/>
          <p:nvPr/>
        </p:nvSpPr>
        <p:spPr>
          <a:xfrm>
            <a:off x="805070" y="1346799"/>
            <a:ext cx="6917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Arquitectura Híbrida: Web + Capacitor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E54295-0B24-8B15-D31F-96B93354EFAB}"/>
              </a:ext>
            </a:extLst>
          </p:cNvPr>
          <p:cNvSpPr txBox="1"/>
          <p:nvPr/>
        </p:nvSpPr>
        <p:spPr>
          <a:xfrm>
            <a:off x="815009" y="1930334"/>
            <a:ext cx="1146975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funciona como una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WebApp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empaquetada dentro de una app nativa.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Usa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Capacitor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una capa que permite acceder a funciones del dispositivo: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Cámara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GPS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Archivos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Notificaciones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Sensores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Capacitor traduce las llamadas desde JavaScript → código nativo (Swift/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Kotlin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Resultado: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La app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se ve como nativa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Usa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APIs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reales del teléfono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desarrolla con la comodidad del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stack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web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E368C49-6726-1564-2D5E-317521C86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776" y="2787719"/>
            <a:ext cx="1729212" cy="5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12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2BBEA-6FC3-F138-078F-9CD5781F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0764"/>
            <a:ext cx="9635360" cy="457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2992675-EA9A-4B0F-BA3B-A9B3AA7E2332}"/>
              </a:ext>
            </a:extLst>
          </p:cNvPr>
          <p:cNvSpPr txBox="1"/>
          <p:nvPr/>
        </p:nvSpPr>
        <p:spPr>
          <a:xfrm>
            <a:off x="616227" y="345496"/>
            <a:ext cx="6917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Ventajas de usar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Ionic</a:t>
            </a:r>
            <a:endParaRPr lang="es-ES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7F9D82-9ACC-FDD2-1A4D-8B98AE4BEC37}"/>
              </a:ext>
            </a:extLst>
          </p:cNvPr>
          <p:cNvSpPr txBox="1"/>
          <p:nvPr/>
        </p:nvSpPr>
        <p:spPr>
          <a:xfrm>
            <a:off x="616227" y="1100086"/>
            <a:ext cx="6917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Por qué </a:t>
            </a:r>
            <a:r>
              <a:rPr lang="es-ES" b="0" i="1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1" u="none" strike="noStrike" dirty="0">
                <a:solidFill>
                  <a:srgbClr val="000000"/>
                </a:solidFill>
                <a:effectLst/>
              </a:rPr>
              <a:t> es tan popular en educación y empresas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830F24B-6092-8913-B642-5FE334E1E946}"/>
              </a:ext>
            </a:extLst>
          </p:cNvPr>
          <p:cNvSpPr txBox="1"/>
          <p:nvPr/>
        </p:nvSpPr>
        <p:spPr>
          <a:xfrm>
            <a:off x="561248" y="1557096"/>
            <a:ext cx="1115450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Un solo código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para Android, iOS y Web: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Ahorra tiempo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Ahorra dinero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Facilita mantenimiento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Aprendizaje rápido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si ya sabes Angular o web.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Gran ecosistema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Capacitor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Plugins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UI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Components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Compatible con librerías web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Leaflet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(mapas)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Chart.js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(gráficos)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Firebase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APIs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REST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Ideal para estudiantes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porque aprenden lógica móvil sin entrar de lleno a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Kotlin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/Swift.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2A02182-5CA8-4543-3496-C53BA0F48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7988" y="2688327"/>
            <a:ext cx="1729212" cy="5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653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15196</TotalTime>
  <Words>819</Words>
  <Application>Microsoft Macintosh PowerPoint</Application>
  <PresentationFormat>Personalizado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-webkit-standard</vt:lpstr>
      <vt:lpstr>Arial</vt:lpstr>
      <vt:lpstr>Calibri</vt:lpstr>
      <vt:lpstr>Tema de Office</vt:lpstr>
      <vt:lpstr>Programación Front END Ingeniería en ejecución Informática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Vilches Valenzuela Pablo Andres</cp:lastModifiedBy>
  <cp:revision>410</cp:revision>
  <dcterms:created xsi:type="dcterms:W3CDTF">2020-04-15T04:11:33Z</dcterms:created>
  <dcterms:modified xsi:type="dcterms:W3CDTF">2025-11-25T18:54:08Z</dcterms:modified>
</cp:coreProperties>
</file>